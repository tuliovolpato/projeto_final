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307" r:id="rId3"/>
    <p:sldId id="320" r:id="rId4"/>
    <p:sldId id="308" r:id="rId5"/>
    <p:sldId id="309" r:id="rId6"/>
    <p:sldId id="321" r:id="rId7"/>
    <p:sldId id="310" r:id="rId8"/>
    <p:sldId id="311" r:id="rId9"/>
    <p:sldId id="312" r:id="rId10"/>
    <p:sldId id="313" r:id="rId11"/>
    <p:sldId id="315" r:id="rId12"/>
    <p:sldId id="319" r:id="rId13"/>
    <p:sldId id="293" r:id="rId14"/>
    <p:sldId id="306" r:id="rId15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8" autoAdjust="0"/>
    <p:restoredTop sz="79540" autoAdjust="0"/>
  </p:normalViewPr>
  <p:slideViewPr>
    <p:cSldViewPr snapToGrid="0">
      <p:cViewPr varScale="1">
        <p:scale>
          <a:sx n="89" d="100"/>
          <a:sy n="89" d="100"/>
        </p:scale>
        <p:origin x="1656" y="7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28/11/2025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6"/>
            <a:ext cx="9137431" cy="4294133"/>
          </a:xfrm>
        </p:spPr>
        <p:txBody>
          <a:bodyPr>
            <a:normAutofit fontScale="90000"/>
          </a:bodyPr>
          <a:lstStyle/>
          <a:p>
            <a:r>
              <a:rPr lang="pt-BR" sz="5400" dirty="0"/>
              <a:t>TP558 - Tópicos avançados em Machine Learning:</a:t>
            </a:r>
            <a:br>
              <a:rPr lang="pt-BR" dirty="0"/>
            </a:br>
            <a:r>
              <a:rPr lang="pt-BR" b="1" i="1" dirty="0"/>
              <a:t>Classificação de Sons Urbanos utilizando CNN: Uma Abordagem para Edge </a:t>
            </a:r>
            <a:r>
              <a:rPr lang="pt-BR" b="1" i="1" dirty="0" err="1"/>
              <a:t>Computing</a:t>
            </a:r>
            <a:r>
              <a:rPr lang="pt-BR" b="1" i="1" dirty="0"/>
              <a:t>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Túlio Barroso </a:t>
            </a:r>
            <a:r>
              <a:rPr lang="pt-BR" sz="2000" dirty="0" err="1"/>
              <a:t>Volpato</a:t>
            </a:r>
            <a:r>
              <a:rPr lang="pt-BR" sz="2000" dirty="0"/>
              <a:t> </a:t>
            </a:r>
          </a:p>
          <a:p>
            <a:r>
              <a:rPr lang="pt-BR" sz="2000" dirty="0"/>
              <a:t>tulio.volpato9@gmail.com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186383" y="2876878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Cidades Inteligentes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Uma Cidade Inteligente utiliza a tecnologia para monitorar o ambiente urbano em tempo real, visando não apenas a segurança, mas a otimização da gestão de serviços públicos. Por meio de sensores conectados, a cidade coleta dados para gerir recursos de forma eficiente e permitir respostas rápidas a eventos críticos ou cotidianos.</a:t>
            </a:r>
          </a:p>
        </p:txBody>
      </p:sp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300AA-0814-AE8A-7746-C213C0AC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Monitoramento</a:t>
            </a:r>
            <a:r>
              <a:rPr lang="en-US" dirty="0"/>
              <a:t> de </a:t>
            </a:r>
            <a:r>
              <a:rPr lang="en-US" dirty="0" err="1"/>
              <a:t>cidades</a:t>
            </a:r>
            <a:r>
              <a:rPr lang="en-US" dirty="0"/>
              <a:t> </a:t>
            </a:r>
            <a:r>
              <a:rPr lang="en-US" dirty="0" err="1"/>
              <a:t>inteligentes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B4FA74-D56F-058F-75FF-01858C099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​O Desafio: O ambiente urbano é caótico (ruído de fundo alto, sons que mudam rápido).  ​</a:t>
            </a:r>
          </a:p>
          <a:p>
            <a:r>
              <a:rPr lang="pt-BR" dirty="0"/>
              <a:t>O Problema: Melhores soluções necessitam de muitos recursos.</a:t>
            </a:r>
          </a:p>
          <a:p>
            <a:r>
              <a:rPr lang="pt-BR" dirty="0"/>
              <a:t>​Inviabilidade: Alto custo de implementação e manutenção.</a:t>
            </a:r>
          </a:p>
          <a:p>
            <a:r>
              <a:rPr lang="pt-BR" dirty="0"/>
              <a:t>​Objetivo do Trabalho: Criar uma solução funcional e aplicável.</a:t>
            </a:r>
          </a:p>
        </p:txBody>
      </p:sp>
    </p:spTree>
    <p:extLst>
      <p:ext uri="{BB962C8B-B14F-4D97-AF65-F5344CB8AC3E}">
        <p14:creationId xmlns:p14="http://schemas.microsoft.com/office/powerpoint/2010/main" val="728250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err="1"/>
              <a:t>Dataset</a:t>
            </a:r>
            <a:r>
              <a:rPr lang="pt-BR" dirty="0"/>
              <a:t>: UrbanSound8K (8.732 clipes, 10 classes como tiros, latidos, sirenes).  </a:t>
            </a:r>
          </a:p>
          <a:p>
            <a:pPr marL="0" indent="0">
              <a:buNone/>
            </a:pPr>
            <a:r>
              <a:rPr lang="pt-BR" dirty="0"/>
              <a:t>Com a seleção deste </a:t>
            </a:r>
            <a:r>
              <a:rPr lang="pt-BR" dirty="0" err="1"/>
              <a:t>dataset</a:t>
            </a:r>
            <a:r>
              <a:rPr lang="pt-BR" dirty="0"/>
              <a:t>, adotou-se a estratégia de respeitar sua divisão original (</a:t>
            </a:r>
            <a:r>
              <a:rPr lang="pt-BR" i="1" dirty="0" err="1"/>
              <a:t>Hold</a:t>
            </a:r>
            <a:r>
              <a:rPr lang="pt-BR" i="1" dirty="0"/>
              <a:t>-out</a:t>
            </a:r>
            <a:r>
              <a:rPr lang="pt-BR" dirty="0"/>
              <a:t>) em </a:t>
            </a:r>
            <a:r>
              <a:rPr lang="pt-BR" dirty="0" err="1"/>
              <a:t>folds</a:t>
            </a:r>
            <a:r>
              <a:rPr lang="pt-BR" dirty="0"/>
              <a:t> para mitigar o data </a:t>
            </a:r>
            <a:r>
              <a:rPr lang="pt-BR" dirty="0" err="1"/>
              <a:t>leakage</a:t>
            </a:r>
            <a:r>
              <a:rPr lang="pt-BR" dirty="0"/>
              <a:t> (vazamento de dados). Dessa forma, o </a:t>
            </a:r>
            <a:r>
              <a:rPr lang="pt-BR" dirty="0" err="1"/>
              <a:t>Fold</a:t>
            </a:r>
            <a:r>
              <a:rPr lang="pt-BR" dirty="0"/>
              <a:t> 10 foi estritamente isolado para ser utilizado apenas na etapa de teste final.</a:t>
            </a:r>
          </a:p>
        </p:txBody>
      </p:sp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Pipeline de Processamento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​Padronização: Tudo vira mono, 22.050Hz e duração fixa de 4 segundos (com preenchimento de silêncio ou corte).  </a:t>
            </a:r>
          </a:p>
          <a:p>
            <a:r>
              <a:rPr lang="pt-BR" dirty="0"/>
              <a:t>​Visão Computacional: Convertemos o som em imagem via Log-Mel </a:t>
            </a:r>
            <a:r>
              <a:rPr lang="pt-BR" dirty="0" err="1"/>
              <a:t>Spectrogram</a:t>
            </a:r>
            <a:r>
              <a:rPr lang="pt-BR" dirty="0"/>
              <a:t>.​</a:t>
            </a:r>
          </a:p>
          <a:p>
            <a:r>
              <a:rPr lang="pt-BR" dirty="0"/>
              <a:t>​Normalização: Escalar os dados entre [0, 1] para a rede aprender mais rápido.</a:t>
            </a:r>
          </a:p>
        </p:txBody>
      </p:sp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42C9D-87F4-0847-B1ED-8B113B867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porque</a:t>
            </a:r>
            <a:r>
              <a:rPr lang="en-US" dirty="0"/>
              <a:t> dessas </a:t>
            </a:r>
            <a:r>
              <a:rPr lang="en-US" dirty="0" err="1"/>
              <a:t>escolhas</a:t>
            </a:r>
            <a:r>
              <a:rPr lang="en-US" dirty="0"/>
              <a:t> 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BF4754-8D0B-2382-EB86-51EE9D0FB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Ao </a:t>
            </a:r>
            <a:r>
              <a:rPr lang="en-US" dirty="0" err="1"/>
              <a:t>fixar</a:t>
            </a:r>
            <a:r>
              <a:rPr lang="en-US" dirty="0"/>
              <a:t> a </a:t>
            </a:r>
            <a:r>
              <a:rPr lang="en-US" dirty="0" err="1"/>
              <a:t>freqeuncia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22.05Hz </a:t>
            </a:r>
            <a:r>
              <a:rPr lang="en-US" dirty="0" err="1"/>
              <a:t>não</a:t>
            </a:r>
            <a:r>
              <a:rPr lang="en-US" dirty="0"/>
              <a:t> a </a:t>
            </a:r>
            <a:r>
              <a:rPr lang="en-US" dirty="0" err="1"/>
              <a:t>perda</a:t>
            </a:r>
            <a:r>
              <a:rPr lang="en-US" dirty="0"/>
              <a:t> de </a:t>
            </a:r>
            <a:r>
              <a:rPr lang="en-US" dirty="0" err="1"/>
              <a:t>informações</a:t>
            </a:r>
            <a:r>
              <a:rPr lang="en-US" dirty="0"/>
              <a:t> e </a:t>
            </a:r>
            <a:r>
              <a:rPr lang="en-US" dirty="0" err="1"/>
              <a:t>reduz</a:t>
            </a:r>
            <a:r>
              <a:rPr lang="en-US" dirty="0"/>
              <a:t> a </a:t>
            </a:r>
            <a:r>
              <a:rPr lang="en-US" dirty="0" err="1"/>
              <a:t>quantidade</a:t>
            </a:r>
            <a:r>
              <a:rPr lang="en-US" dirty="0"/>
              <a:t> de dados.</a:t>
            </a:r>
          </a:p>
          <a:p>
            <a:pPr marL="0" indent="0">
              <a:buNone/>
            </a:pPr>
            <a:r>
              <a:rPr lang="en-US" dirty="0" err="1"/>
              <a:t>Curiosidade</a:t>
            </a:r>
            <a:r>
              <a:rPr lang="en-US" dirty="0"/>
              <a:t>: um CD </a:t>
            </a:r>
            <a:r>
              <a:rPr lang="en-US" dirty="0" err="1"/>
              <a:t>utiliza</a:t>
            </a:r>
            <a:r>
              <a:rPr lang="en-US" dirty="0"/>
              <a:t> </a:t>
            </a:r>
            <a:r>
              <a:rPr lang="en-US" dirty="0" err="1"/>
              <a:t>frequencia</a:t>
            </a:r>
            <a:r>
              <a:rPr lang="en-US" dirty="0"/>
              <a:t> de 44.1kHz.</a:t>
            </a:r>
          </a:p>
          <a:p>
            <a:pPr marL="0" indent="0">
              <a:buNone/>
            </a:pPr>
            <a:r>
              <a:rPr lang="en-US" dirty="0"/>
              <a:t>Log-Mel é o </a:t>
            </a:r>
            <a:r>
              <a:rPr lang="en-US" dirty="0" err="1"/>
              <a:t>processo</a:t>
            </a:r>
            <a:r>
              <a:rPr lang="en-US" dirty="0"/>
              <a:t> que </a:t>
            </a:r>
            <a:r>
              <a:rPr lang="en-US" dirty="0" err="1"/>
              <a:t>transforma</a:t>
            </a:r>
            <a:r>
              <a:rPr lang="en-US" dirty="0"/>
              <a:t> o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. </a:t>
            </a:r>
          </a:p>
          <a:p>
            <a:r>
              <a:rPr lang="en-US" dirty="0" err="1"/>
              <a:t>Cria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mapa</a:t>
            </a:r>
            <a:r>
              <a:rPr lang="en-US" dirty="0"/>
              <a:t> </a:t>
            </a:r>
            <a:r>
              <a:rPr lang="en-US" dirty="0" err="1"/>
              <a:t>basico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analizar</a:t>
            </a:r>
            <a:r>
              <a:rPr lang="en-US" dirty="0"/>
              <a:t> graves e </a:t>
            </a:r>
            <a:r>
              <a:rPr lang="en-US" dirty="0" err="1"/>
              <a:t>agudos</a:t>
            </a:r>
            <a:r>
              <a:rPr lang="en-US" dirty="0"/>
              <a:t> no </a:t>
            </a:r>
            <a:r>
              <a:rPr lang="en-US" dirty="0" err="1"/>
              <a:t>áudio</a:t>
            </a:r>
            <a:r>
              <a:rPr lang="en-US" dirty="0"/>
              <a:t>.</a:t>
            </a:r>
          </a:p>
          <a:p>
            <a:r>
              <a:rPr lang="en-US" dirty="0" err="1"/>
              <a:t>Imita</a:t>
            </a:r>
            <a:r>
              <a:rPr lang="en-US" dirty="0"/>
              <a:t> a </a:t>
            </a:r>
            <a:r>
              <a:rPr lang="en-US" dirty="0" err="1"/>
              <a:t>biologia</a:t>
            </a:r>
            <a:r>
              <a:rPr lang="en-US" dirty="0"/>
              <a:t> </a:t>
            </a:r>
            <a:r>
              <a:rPr lang="en-US" dirty="0" err="1"/>
              <a:t>humana</a:t>
            </a:r>
            <a:r>
              <a:rPr lang="en-US" dirty="0"/>
              <a:t> </a:t>
            </a:r>
            <a:r>
              <a:rPr lang="en-US" dirty="0" err="1"/>
              <a:t>alplificando</a:t>
            </a:r>
            <a:r>
              <a:rPr lang="en-US" dirty="0"/>
              <a:t> graves e </a:t>
            </a:r>
            <a:r>
              <a:rPr lang="en-US" dirty="0" err="1"/>
              <a:t>comprimindo</a:t>
            </a:r>
            <a:r>
              <a:rPr lang="en-US" dirty="0"/>
              <a:t> </a:t>
            </a:r>
            <a:r>
              <a:rPr lang="en-US" dirty="0" err="1"/>
              <a:t>agudos</a:t>
            </a:r>
            <a:r>
              <a:rPr lang="en-US" dirty="0"/>
              <a:t>.</a:t>
            </a:r>
          </a:p>
          <a:p>
            <a:r>
              <a:rPr lang="en-US" dirty="0" err="1"/>
              <a:t>Converte</a:t>
            </a:r>
            <a:r>
              <a:rPr lang="en-US" dirty="0"/>
              <a:t> para a </a:t>
            </a:r>
            <a:r>
              <a:rPr lang="en-US" dirty="0" err="1"/>
              <a:t>escala</a:t>
            </a:r>
            <a:r>
              <a:rPr lang="en-US" dirty="0"/>
              <a:t> Log.</a:t>
            </a:r>
          </a:p>
          <a:p>
            <a:pPr marL="0" indent="0">
              <a:buNone/>
            </a:pPr>
            <a:r>
              <a:rPr lang="pt-BR" dirty="0"/>
              <a:t>A normalização vem para agilizar o processo, pois os valores originais em um espectrograma podem variar mundo.</a:t>
            </a:r>
          </a:p>
        </p:txBody>
      </p:sp>
    </p:spTree>
    <p:extLst>
      <p:ext uri="{BB962C8B-B14F-4D97-AF65-F5344CB8AC3E}">
        <p14:creationId xmlns:p14="http://schemas.microsoft.com/office/powerpoint/2010/main" val="406391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9DAB9-0612-F0CD-7BB1-AF52B98B3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Data </a:t>
            </a:r>
            <a:r>
              <a:rPr lang="pt-BR" dirty="0" err="1"/>
              <a:t>Augmentation</a:t>
            </a:r>
            <a:r>
              <a:rPr lang="pt-BR" dirty="0"/>
              <a:t> e Arquitetura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​O "Pulo do Gato": Como temos poucos dados, usamos </a:t>
            </a:r>
            <a:r>
              <a:rPr lang="pt-BR" sz="2400" dirty="0" err="1"/>
              <a:t>Augmentation</a:t>
            </a:r>
            <a:r>
              <a:rPr lang="pt-BR" sz="2400" dirty="0"/>
              <a:t> dinâmico:</a:t>
            </a:r>
            <a:r>
              <a:rPr lang="pt-BR" sz="2600" dirty="0"/>
              <a:t>​</a:t>
            </a:r>
          </a:p>
          <a:p>
            <a:pPr lvl="1"/>
            <a:r>
              <a:rPr lang="pt-BR" sz="2000" dirty="0"/>
              <a:t>Injeção de Ruído Branco.​</a:t>
            </a:r>
          </a:p>
          <a:p>
            <a:pPr lvl="1"/>
            <a:r>
              <a:rPr lang="pt-BR" sz="2000" dirty="0"/>
              <a:t>Variação de Ganho (simular distâncias diferentes).  </a:t>
            </a:r>
          </a:p>
          <a:p>
            <a:r>
              <a:rPr lang="pt-BR" dirty="0"/>
              <a:t>​</a:t>
            </a:r>
            <a:r>
              <a:rPr lang="pt-BR" sz="2400" dirty="0"/>
              <a:t>A Rede Neural: Uma CNN enxuta com apenas 3 blocos de convolução, treinada propositalmente em CPU para simular restrições de hardware (Computação de Borda).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3549993-4BF0-7483-DC1D-2ECE5097E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463" y="4001294"/>
            <a:ext cx="3972870" cy="277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980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A9759-CA4F-DA4F-85C2-F6E51DCE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F732D-34CE-6153-324F-D7F682157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 Modelo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A55622-8E11-E5D7-8EAF-7AE2CCAA3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​O </a:t>
            </a:r>
            <a:r>
              <a:rPr lang="pt-BR" dirty="0" err="1"/>
              <a:t>Baseline:Sem</a:t>
            </a:r>
            <a:r>
              <a:rPr lang="pt-BR" dirty="0"/>
              <a:t> o pipeline correto (sem normalização/</a:t>
            </a:r>
            <a:r>
              <a:rPr lang="pt-BR" dirty="0" err="1"/>
              <a:t>augmentation</a:t>
            </a:r>
            <a:r>
              <a:rPr lang="pt-BR" dirty="0"/>
              <a:t>), a rede teve 11,9% de acurácia.</a:t>
            </a:r>
          </a:p>
          <a:p>
            <a:r>
              <a:rPr lang="pt-BR" dirty="0"/>
              <a:t>​O Modelo Final: Com o tratamento adequado, saltou para ~63% de acurácia.  ​</a:t>
            </a:r>
          </a:p>
          <a:p>
            <a:r>
              <a:rPr lang="pt-BR" dirty="0"/>
              <a:t>Conclusão Parcial: O pré-processamento foi mais importante que a complexidade da rede.</a:t>
            </a:r>
          </a:p>
        </p:txBody>
      </p:sp>
    </p:spTree>
    <p:extLst>
      <p:ext uri="{BB962C8B-B14F-4D97-AF65-F5344CB8AC3E}">
        <p14:creationId xmlns:p14="http://schemas.microsoft.com/office/powerpoint/2010/main" val="1521811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502FC-4440-F5DA-F299-69CD15E70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359096-6B47-BEA3-55AD-95F90CDC8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36" y="1901825"/>
            <a:ext cx="7701289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​A classe "Tiro" (Gun Shot). Recall de 94%.​Motivo: Som explosivo e curto, fácil de identificar visualmente no espectrograma. </a:t>
            </a:r>
          </a:p>
          <a:p>
            <a:r>
              <a:rPr lang="pt-BR" dirty="0"/>
              <a:t>Foi identificado uma confusão entre "Ar Condicionado" e "Motor em Marcha Lenta".</a:t>
            </a:r>
          </a:p>
          <a:p>
            <a:pPr lvl="1"/>
            <a:r>
              <a:rPr lang="pt-BR" dirty="0"/>
              <a:t>​Motivo: Ambos são zumbidos graves e contínuos (estacionários). A rede leve tem dificuldade em diferenciar essas texturas sutis.  ​</a:t>
            </a:r>
          </a:p>
          <a:p>
            <a:r>
              <a:rPr lang="pt-BR" dirty="0"/>
              <a:t>Equilíbrio: O F1-Score (0.63) foi igual à acurácia, provando que o modelo não está enviesado para classes fáceis.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CAD9AC7-9CA8-FD2F-C6D8-9CEE51DA7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726" y="1901825"/>
            <a:ext cx="4373273" cy="391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530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EBC8F7-03EF-338A-A90B-280A41AF9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Estado da Arte vs. Nossa Proposta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25BCE7-C19D-7DDA-016A-E3016C398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/>
              <a:t>​Modelos Pesados (Hershey et al. / </a:t>
            </a:r>
            <a:r>
              <a:rPr lang="pt-BR" sz="1800" dirty="0" err="1"/>
              <a:t>Deep</a:t>
            </a:r>
            <a:r>
              <a:rPr lang="pt-BR" sz="1800" dirty="0"/>
              <a:t> CNN): Atingem 75%+.​</a:t>
            </a:r>
          </a:p>
          <a:p>
            <a:pPr lvl="1"/>
            <a:r>
              <a:rPr lang="pt-BR" sz="1800" dirty="0"/>
              <a:t>Custo: Exigem </a:t>
            </a:r>
            <a:r>
              <a:rPr lang="pt-BR" sz="1800" dirty="0" err="1"/>
              <a:t>Transfer</a:t>
            </a:r>
            <a:r>
              <a:rPr lang="pt-BR" sz="1800" dirty="0"/>
              <a:t> Learning e hardware robusto.</a:t>
            </a:r>
          </a:p>
          <a:p>
            <a:r>
              <a:rPr lang="pt-BR" sz="1800" dirty="0"/>
              <a:t>​Modelos Clássicos (Salamon &amp; </a:t>
            </a:r>
            <a:r>
              <a:rPr lang="pt-BR" sz="1800" dirty="0" err="1"/>
              <a:t>Bello</a:t>
            </a:r>
            <a:r>
              <a:rPr lang="pt-BR" sz="1800" dirty="0"/>
              <a:t>): Usavam SVM, atingiam ~68%.​</a:t>
            </a:r>
          </a:p>
          <a:p>
            <a:r>
              <a:rPr lang="pt-BR" sz="1800" dirty="0"/>
              <a:t>Nosso Modelo (63%): Fica um pouco abaixo em acurácia pura, mas ganha em Viabilidade.  </a:t>
            </a:r>
          </a:p>
          <a:p>
            <a:r>
              <a:rPr lang="pt-BR" sz="1800" dirty="0"/>
              <a:t>​Argumento Central: A troca de 10% de acurácia pela capacidade de rodar em um processador barato (Edge </a:t>
            </a:r>
            <a:r>
              <a:rPr lang="pt-BR" sz="1800" dirty="0" err="1"/>
              <a:t>Computing</a:t>
            </a:r>
            <a:r>
              <a:rPr lang="pt-BR" sz="1800" dirty="0"/>
              <a:t>) é aceitável para monitoramento em larga escala. Diferente dos outros, focamos na eficiência do pipeline "do zero".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7642348-8BB6-D460-9438-BBE84F4B7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224" y="4211870"/>
            <a:ext cx="8128000" cy="228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469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5BF48-05C1-247C-E68C-A6C2EF862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CB651C-6D38-D6AD-E9E2-70083D768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​Validamos que é possível treinar uma rede funcional sem </a:t>
            </a:r>
            <a:r>
              <a:rPr lang="pt-BR" dirty="0" err="1"/>
              <a:t>GPUs</a:t>
            </a:r>
            <a:r>
              <a:rPr lang="pt-BR" dirty="0"/>
              <a:t> caras.  ​</a:t>
            </a:r>
          </a:p>
          <a:p>
            <a:r>
              <a:rPr lang="pt-BR" dirty="0"/>
              <a:t>Provamos que Data </a:t>
            </a:r>
            <a:r>
              <a:rPr lang="pt-BR" dirty="0" err="1"/>
              <a:t>Augmentation</a:t>
            </a:r>
            <a:r>
              <a:rPr lang="pt-BR" dirty="0"/>
              <a:t> e normalização são vitais para </a:t>
            </a:r>
            <a:r>
              <a:rPr lang="pt-BR" dirty="0" err="1"/>
              <a:t>datasets</a:t>
            </a:r>
            <a:r>
              <a:rPr lang="pt-BR" dirty="0"/>
              <a:t> pequenos como o UrbanSound8K.  </a:t>
            </a:r>
          </a:p>
          <a:p>
            <a:r>
              <a:rPr lang="pt-BR" dirty="0"/>
              <a:t>​A arquitetura serve para sensores baratos (</a:t>
            </a:r>
            <a:r>
              <a:rPr lang="pt-BR" dirty="0" err="1"/>
              <a:t>Raspberry</a:t>
            </a:r>
            <a:r>
              <a:rPr lang="pt-BR" dirty="0"/>
              <a:t> </a:t>
            </a:r>
            <a:r>
              <a:rPr lang="pt-BR" dirty="0" err="1"/>
              <a:t>Pi</a:t>
            </a:r>
            <a:r>
              <a:rPr lang="pt-BR" dirty="0"/>
              <a:t>, ESP32), reduzindo custos de banda e latência (processamento local).</a:t>
            </a:r>
          </a:p>
        </p:txBody>
      </p:sp>
    </p:spTree>
    <p:extLst>
      <p:ext uri="{BB962C8B-B14F-4D97-AF65-F5344CB8AC3E}">
        <p14:creationId xmlns:p14="http://schemas.microsoft.com/office/powerpoint/2010/main" val="3062899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40989-67BD-04B6-7DEA-75B1CAFDF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Futuro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C491B0-B258-CF04-4D36-8E6FDB0BF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​</a:t>
            </a:r>
            <a:r>
              <a:rPr lang="pt-BR" dirty="0" err="1"/>
              <a:t>Deploy</a:t>
            </a:r>
            <a:r>
              <a:rPr lang="pt-BR" dirty="0"/>
              <a:t> (</a:t>
            </a:r>
            <a:r>
              <a:rPr lang="pt-BR"/>
              <a:t>mundo real): </a:t>
            </a:r>
            <a:r>
              <a:rPr lang="pt-BR" dirty="0"/>
              <a:t>Implementar em </a:t>
            </a:r>
            <a:r>
              <a:rPr lang="pt-BR" dirty="0" err="1"/>
              <a:t>TensorFlow</a:t>
            </a:r>
            <a:r>
              <a:rPr lang="pt-BR" dirty="0"/>
              <a:t> Lite para teste real em dispositivo IoT.  ​</a:t>
            </a:r>
          </a:p>
          <a:p>
            <a:r>
              <a:rPr lang="pt-BR" dirty="0"/>
              <a:t>Melhorar a Precisão: Usar técnicas avançadas como </a:t>
            </a:r>
            <a:r>
              <a:rPr lang="pt-BR" dirty="0" err="1"/>
              <a:t>SpecAugment</a:t>
            </a:r>
            <a:r>
              <a:rPr lang="pt-BR" dirty="0"/>
              <a:t> (máscaras no tempo/frequência) para tentar resolver a confusão dos sons mecânicos.  ​</a:t>
            </a:r>
          </a:p>
          <a:p>
            <a:r>
              <a:rPr lang="pt-BR" dirty="0"/>
              <a:t>Fusão de Sensores: Combinar esse áudio com outros dados (câmeras) para aumentar a confiabilidade.</a:t>
            </a:r>
          </a:p>
        </p:txBody>
      </p:sp>
    </p:spTree>
    <p:extLst>
      <p:ext uri="{BB962C8B-B14F-4D97-AF65-F5344CB8AC3E}">
        <p14:creationId xmlns:p14="http://schemas.microsoft.com/office/powerpoint/2010/main" val="878461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8562</TotalTime>
  <Words>810</Words>
  <Application>Microsoft Office PowerPoint</Application>
  <PresentationFormat>Widescreen</PresentationFormat>
  <Paragraphs>56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TP558 - Tópicos avançados em Machine Learning: Classificação de Sons Urbanos utilizando CNN: Uma Abordagem para Edge Computing.</vt:lpstr>
      <vt:lpstr>Cidades Inteligentes</vt:lpstr>
      <vt:lpstr>Monitoramento de cidades inteligentes</vt:lpstr>
      <vt:lpstr>Metodologia</vt:lpstr>
      <vt:lpstr>Pipeline de Processamento</vt:lpstr>
      <vt:lpstr>O porque dessas escolhas </vt:lpstr>
      <vt:lpstr>Data Augmentation e Arquitetura</vt:lpstr>
      <vt:lpstr>Evolução do Modelo</vt:lpstr>
      <vt:lpstr>Matriz de Confusão</vt:lpstr>
      <vt:lpstr>O Estado da Arte vs. Nossa Proposta</vt:lpstr>
      <vt:lpstr>Conclusão</vt:lpstr>
      <vt:lpstr>Futuro do Projeto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Túlio Barroso Volpato</cp:lastModifiedBy>
  <cp:revision>1733</cp:revision>
  <dcterms:created xsi:type="dcterms:W3CDTF">2020-01-20T13:50:05Z</dcterms:created>
  <dcterms:modified xsi:type="dcterms:W3CDTF">2025-11-29T12:51:12Z</dcterms:modified>
</cp:coreProperties>
</file>